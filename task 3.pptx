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4"/>
  </p:notesMasterIdLst>
  <p:handoutMasterIdLst>
    <p:handoutMasterId r:id="rId15"/>
  </p:handoutMasterIdLst>
  <p:sldIdLst>
    <p:sldId id="256" r:id="rId5"/>
    <p:sldId id="262" r:id="rId6"/>
    <p:sldId id="258" r:id="rId7"/>
    <p:sldId id="259" r:id="rId8"/>
    <p:sldId id="264" r:id="rId9"/>
    <p:sldId id="266" r:id="rId10"/>
    <p:sldId id="265" r:id="rId11"/>
    <p:sldId id="267" r:id="rId12"/>
    <p:sldId id="26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48" autoAdjust="0"/>
  </p:normalViewPr>
  <p:slideViewPr>
    <p:cSldViewPr snapToGrid="0">
      <p:cViewPr varScale="1">
        <p:scale>
          <a:sx n="78" d="100"/>
          <a:sy n="78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br>
              <a:rPr lang="en-IN" sz="6000" dirty="0">
                <a:solidFill>
                  <a:schemeClr val="bg1"/>
                </a:solidFill>
              </a:rPr>
            </a:br>
            <a:r>
              <a:rPr lang="en-IN" sz="6000" dirty="0">
                <a:solidFill>
                  <a:schemeClr val="bg1"/>
                </a:solidFill>
              </a:rPr>
              <a:t>Phishing Email Identifier</a:t>
            </a:r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 fontScale="25000" lnSpcReduction="20000"/>
          </a:bodyPr>
          <a:lstStyle/>
          <a:p>
            <a:r>
              <a:rPr lang="en-IN" sz="6400" b="1" dirty="0">
                <a:solidFill>
                  <a:schemeClr val="bg1"/>
                </a:solidFill>
              </a:rPr>
              <a:t>Objective</a:t>
            </a:r>
          </a:p>
          <a:p>
            <a:r>
              <a:rPr lang="en-IN" sz="6400" dirty="0">
                <a:solidFill>
                  <a:schemeClr val="bg1"/>
                </a:solidFill>
              </a:rPr>
              <a:t>Learn how to identify phishing emails by </a:t>
            </a:r>
            <a:r>
              <a:rPr lang="en-IN" sz="6400" dirty="0" err="1">
                <a:solidFill>
                  <a:schemeClr val="bg1"/>
                </a:solidFill>
              </a:rPr>
              <a:t>analyzing</a:t>
            </a:r>
            <a:r>
              <a:rPr lang="en-IN" sz="6400" dirty="0">
                <a:solidFill>
                  <a:schemeClr val="bg1"/>
                </a:solidFill>
              </a:rPr>
              <a:t> common warning signs and examples.</a:t>
            </a:r>
          </a:p>
          <a:p>
            <a:endParaRPr lang="en-US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4B7E9-19B0-0EFA-BD1F-E9FF2EE10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0267" y="575733"/>
            <a:ext cx="11134473" cy="22860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Phishing Email Identifier</a:t>
            </a:r>
            <a:br>
              <a:rPr lang="en-IN" b="1" dirty="0"/>
            </a:br>
            <a:br>
              <a:rPr lang="en-IN" dirty="0"/>
            </a:br>
            <a:r>
              <a:rPr lang="en-IN" b="1" dirty="0">
                <a:solidFill>
                  <a:schemeClr val="tx1"/>
                </a:solidFill>
              </a:rPr>
              <a:t>Code Orbit Tech – Cyber Security Internship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9716AF-BFCC-BE98-D0EB-0D7A573EEA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0800000" flipV="1">
            <a:off x="581194" y="3428999"/>
            <a:ext cx="10993546" cy="2408569"/>
          </a:xfrm>
        </p:spPr>
        <p:txBody>
          <a:bodyPr>
            <a:normAutofit lnSpcReduction="10000"/>
          </a:bodyPr>
          <a:lstStyle/>
          <a:p>
            <a:r>
              <a:rPr lang="en-IN" sz="2000" b="1" dirty="0">
                <a:solidFill>
                  <a:srgbClr val="92D050"/>
                </a:solidFill>
              </a:rPr>
              <a:t>Submitted By:</a:t>
            </a:r>
            <a:endParaRPr lang="en-IN" sz="2000" dirty="0">
              <a:solidFill>
                <a:srgbClr val="92D050"/>
              </a:solidFill>
            </a:endParaRPr>
          </a:p>
          <a:p>
            <a:r>
              <a:rPr lang="en-IN" sz="2000" dirty="0">
                <a:solidFill>
                  <a:srgbClr val="92D050"/>
                </a:solidFill>
              </a:rPr>
              <a:t>Krishnaveni T C </a:t>
            </a:r>
          </a:p>
          <a:p>
            <a:r>
              <a:rPr lang="en-IN" sz="2000" dirty="0">
                <a:solidFill>
                  <a:srgbClr val="92D050"/>
                </a:solidFill>
              </a:rPr>
              <a:t>College: Muthoot Institute of Technology and Science (MITS) </a:t>
            </a:r>
          </a:p>
          <a:p>
            <a:r>
              <a:rPr lang="en-IN" sz="2000" dirty="0">
                <a:solidFill>
                  <a:srgbClr val="92D050"/>
                </a:solidFill>
              </a:rPr>
              <a:t>Branch: Computer Science Engineering (Cyber Security) 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6211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Phishing?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C169F1-5DD0-7EE1-8A38-1B3F6611C7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/>
              <a:t>Goals of a Phishing Attack</a:t>
            </a:r>
          </a:p>
          <a:p>
            <a:r>
              <a:rPr lang="en-IN" sz="2400" dirty="0"/>
              <a:t>Steal login credentials </a:t>
            </a:r>
          </a:p>
          <a:p>
            <a:r>
              <a:rPr lang="en-IN" sz="2400" dirty="0"/>
              <a:t>Steal banking information </a:t>
            </a:r>
          </a:p>
          <a:p>
            <a:r>
              <a:rPr lang="en-IN" sz="2400" dirty="0"/>
              <a:t>Install malware </a:t>
            </a:r>
          </a:p>
          <a:p>
            <a:r>
              <a:rPr lang="en-IN" sz="2400" dirty="0"/>
              <a:t>Gain unauthorized access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CC2234-27A7-D8C4-51AC-32E57182BC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/>
              <a:t>Definition</a:t>
            </a:r>
          </a:p>
          <a:p>
            <a:r>
              <a:rPr lang="en-IN" sz="2400" dirty="0"/>
              <a:t>Phishing is a cyberattack where attackers send fake emails pretending to be trusted organizations to trick users into revealing sensitive information such as passwords, banking details, or personal information.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Content Placeholder 4" descr="Digital Number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7213600" cy="1422399"/>
          </a:xfrm>
        </p:spPr>
        <p:txBody>
          <a:bodyPr anchor="ctr">
            <a:normAutofit/>
          </a:bodyPr>
          <a:lstStyle/>
          <a:p>
            <a:pPr algn="ctr"/>
            <a:r>
              <a:rPr lang="en-IN" dirty="0"/>
              <a:t>Common Phishing Red Flags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C23150-AEA3-214A-EF67-6A0842DB8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79600"/>
            <a:ext cx="11029615" cy="3979200"/>
          </a:xfrm>
        </p:spPr>
        <p:txBody>
          <a:bodyPr/>
          <a:lstStyle/>
          <a:p>
            <a:r>
              <a:rPr lang="en-IN" sz="2400" dirty="0">
                <a:solidFill>
                  <a:srgbClr val="92D050"/>
                </a:solidFill>
              </a:rPr>
              <a:t>✔ Unknown or suspicious sender</a:t>
            </a:r>
          </a:p>
          <a:p>
            <a:r>
              <a:rPr lang="en-IN" sz="2400" dirty="0">
                <a:solidFill>
                  <a:srgbClr val="92D050"/>
                </a:solidFill>
              </a:rPr>
              <a:t>✔ Urgent or threatening language</a:t>
            </a:r>
          </a:p>
          <a:p>
            <a:r>
              <a:rPr lang="en-IN" sz="2400" dirty="0">
                <a:solidFill>
                  <a:srgbClr val="92D050"/>
                </a:solidFill>
              </a:rPr>
              <a:t>✔ Fake or mismatched website links</a:t>
            </a:r>
          </a:p>
          <a:p>
            <a:r>
              <a:rPr lang="en-IN" sz="2400" dirty="0">
                <a:solidFill>
                  <a:srgbClr val="92D050"/>
                </a:solidFill>
              </a:rPr>
              <a:t>✔ Grammar and spelling mistakes</a:t>
            </a:r>
          </a:p>
          <a:p>
            <a:r>
              <a:rPr lang="en-IN" sz="2400" dirty="0">
                <a:solidFill>
                  <a:srgbClr val="92D050"/>
                </a:solidFill>
              </a:rPr>
              <a:t>✔ Unexpected </a:t>
            </a:r>
            <a:r>
              <a:rPr lang="en-IN" sz="2800" dirty="0">
                <a:solidFill>
                  <a:srgbClr val="92D050"/>
                </a:solidFill>
              </a:rPr>
              <a:t>attachments</a:t>
            </a:r>
          </a:p>
          <a:p>
            <a:r>
              <a:rPr lang="en-IN" sz="2400" dirty="0">
                <a:solidFill>
                  <a:srgbClr val="92D050"/>
                </a:solidFill>
              </a:rPr>
              <a:t>✔ Requests for passwords or OTPs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122B5-6990-E0C2-04B6-ECF9F45B3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Sample Email 1 (Phishing)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0A789-8C6D-0A9C-BB77-27240D32E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64267"/>
            <a:ext cx="11029615" cy="4893733"/>
          </a:xfrm>
        </p:spPr>
        <p:txBody>
          <a:bodyPr>
            <a:normAutofit fontScale="85000" lnSpcReduction="20000"/>
          </a:bodyPr>
          <a:lstStyle/>
          <a:p>
            <a:r>
              <a:rPr lang="en-IN" sz="2400" dirty="0"/>
              <a:t>From : support@paypa1-security.com</a:t>
            </a:r>
          </a:p>
          <a:p>
            <a:r>
              <a:rPr lang="en-IN" sz="2400" dirty="0"/>
              <a:t>Subject : Verify Your Account Immediately</a:t>
            </a:r>
          </a:p>
          <a:p>
            <a:r>
              <a:rPr lang="en-IN" sz="2400" b="1" dirty="0"/>
              <a:t>Email:</a:t>
            </a:r>
          </a:p>
          <a:p>
            <a:pPr marL="0" indent="0">
              <a:buNone/>
            </a:pPr>
            <a:r>
              <a:rPr lang="en-IN" sz="2400" dirty="0"/>
              <a:t>	Dear Customer,</a:t>
            </a:r>
          </a:p>
          <a:p>
            <a:pPr marL="0" indent="0">
              <a:buNone/>
            </a:pPr>
            <a:r>
              <a:rPr lang="en-IN" sz="2400" dirty="0"/>
              <a:t>	Your PayPal account will be suspended within 24 hours.</a:t>
            </a:r>
          </a:p>
          <a:p>
            <a:pPr marL="0" indent="0">
              <a:buNone/>
            </a:pPr>
            <a:r>
              <a:rPr lang="en-IN" sz="2400" dirty="0"/>
              <a:t>	Click the link below immediately to verify your account.</a:t>
            </a:r>
          </a:p>
          <a:p>
            <a:pPr marL="0" indent="0">
              <a:buNone/>
            </a:pPr>
            <a:r>
              <a:rPr lang="en-IN" sz="2400" dirty="0"/>
              <a:t>	https://paypal-security-login.xyz</a:t>
            </a:r>
          </a:p>
          <a:p>
            <a:r>
              <a:rPr lang="en-IN" sz="2400" b="1" dirty="0"/>
              <a:t>Why is it suspicious?</a:t>
            </a:r>
          </a:p>
          <a:p>
            <a:pPr marL="0" indent="0">
              <a:buNone/>
            </a:pPr>
            <a:r>
              <a:rPr lang="en-IN" sz="2400" dirty="0"/>
              <a:t>❌ Fake sender address</a:t>
            </a:r>
          </a:p>
          <a:p>
            <a:pPr marL="0" indent="0">
              <a:buNone/>
            </a:pPr>
            <a:r>
              <a:rPr lang="en-IN" sz="2400" dirty="0"/>
              <a:t>❌ Urgent language</a:t>
            </a:r>
          </a:p>
          <a:p>
            <a:pPr marL="0" indent="0">
              <a:buNone/>
            </a:pPr>
            <a:r>
              <a:rPr lang="en-IN" sz="2400" dirty="0"/>
              <a:t>❌ Fake website link</a:t>
            </a:r>
          </a:p>
          <a:p>
            <a:r>
              <a:rPr lang="en-IN" sz="2400" b="1" dirty="0"/>
              <a:t>Result:</a:t>
            </a:r>
            <a:r>
              <a:rPr lang="en-IN" sz="2400" dirty="0"/>
              <a:t> </a:t>
            </a:r>
            <a:r>
              <a:rPr lang="en-IN" sz="2400" b="1" dirty="0"/>
              <a:t>Phishing Email</a:t>
            </a: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366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6A230-DD6D-6B12-09DD-00CB78A32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838777"/>
          </a:xfrm>
        </p:spPr>
        <p:txBody>
          <a:bodyPr/>
          <a:lstStyle/>
          <a:p>
            <a:r>
              <a:rPr lang="en-IN" dirty="0"/>
              <a:t>Sample Email 2 (Safe)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02E03-D229-BD06-0013-BB6194A2B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45110"/>
            <a:ext cx="11029615" cy="4503174"/>
          </a:xfrm>
        </p:spPr>
        <p:txBody>
          <a:bodyPr>
            <a:normAutofit fontScale="77500" lnSpcReduction="20000"/>
          </a:bodyPr>
          <a:lstStyle/>
          <a:p>
            <a:r>
              <a:rPr lang="en-IN" sz="2100" b="1" dirty="0"/>
              <a:t>From : </a:t>
            </a:r>
            <a:r>
              <a:rPr lang="en-IN" sz="2100" dirty="0"/>
              <a:t>hr@company.com</a:t>
            </a:r>
          </a:p>
          <a:p>
            <a:r>
              <a:rPr lang="en-IN" sz="2100" b="1" dirty="0"/>
              <a:t>Subject : </a:t>
            </a:r>
            <a:r>
              <a:rPr lang="en-IN" sz="2100" dirty="0"/>
              <a:t>Interview Schedule</a:t>
            </a:r>
          </a:p>
          <a:p>
            <a:r>
              <a:rPr lang="en-IN" sz="2100" b="1" dirty="0"/>
              <a:t>Email</a:t>
            </a:r>
          </a:p>
          <a:p>
            <a:pPr marL="0" indent="0">
              <a:buNone/>
            </a:pPr>
            <a:r>
              <a:rPr lang="en-IN" sz="2100" dirty="0"/>
              <a:t>	Dear Candidate,</a:t>
            </a:r>
          </a:p>
          <a:p>
            <a:pPr marL="0" indent="0">
              <a:buNone/>
            </a:pPr>
            <a:r>
              <a:rPr lang="en-IN" sz="2100" dirty="0"/>
              <a:t>	Your interview is scheduled for Monday at 10:00 AM.</a:t>
            </a:r>
          </a:p>
          <a:p>
            <a:pPr marL="0" indent="0">
              <a:buNone/>
            </a:pPr>
            <a:r>
              <a:rPr lang="en-IN" sz="2100" dirty="0"/>
              <a:t>	Please join using the official meeting link sent earlier.</a:t>
            </a:r>
          </a:p>
          <a:p>
            <a:pPr marL="0" indent="0">
              <a:buNone/>
            </a:pPr>
            <a:r>
              <a:rPr lang="en-IN" sz="2100" dirty="0"/>
              <a:t>	Regards,</a:t>
            </a:r>
            <a:br>
              <a:rPr lang="en-IN" sz="2100" dirty="0"/>
            </a:br>
            <a:r>
              <a:rPr lang="en-IN" sz="2100" dirty="0"/>
              <a:t>	HR Team</a:t>
            </a:r>
          </a:p>
          <a:p>
            <a:r>
              <a:rPr lang="en-IN" sz="2100" b="1" dirty="0"/>
              <a:t>Why is it safe?</a:t>
            </a:r>
          </a:p>
          <a:p>
            <a:pPr marL="0" indent="0">
              <a:buNone/>
            </a:pPr>
            <a:r>
              <a:rPr lang="en-IN" sz="2100" dirty="0"/>
              <a:t>✔ Professional language</a:t>
            </a:r>
          </a:p>
          <a:p>
            <a:pPr marL="0" indent="0">
              <a:buNone/>
            </a:pPr>
            <a:r>
              <a:rPr lang="en-IN" sz="2100" dirty="0"/>
              <a:t>✔ No urgent threats</a:t>
            </a:r>
          </a:p>
          <a:p>
            <a:pPr marL="0" indent="0">
              <a:buNone/>
            </a:pPr>
            <a:r>
              <a:rPr lang="en-IN" sz="2100" dirty="0"/>
              <a:t>✔ Trusted sender</a:t>
            </a:r>
          </a:p>
          <a:p>
            <a:pPr marL="0" indent="0">
              <a:buNone/>
            </a:pPr>
            <a:r>
              <a:rPr lang="en-IN" sz="2100" dirty="0"/>
              <a:t>✔ No suspicious links</a:t>
            </a:r>
          </a:p>
          <a:p>
            <a:r>
              <a:rPr lang="en-IN" sz="2100" b="1" dirty="0"/>
              <a:t>Result:</a:t>
            </a:r>
            <a:r>
              <a:rPr lang="en-IN" sz="2100" dirty="0"/>
              <a:t> </a:t>
            </a:r>
            <a:r>
              <a:rPr lang="en-IN" sz="2100" b="1" dirty="0"/>
              <a:t>Legitimate Email</a:t>
            </a:r>
            <a:endParaRPr lang="en-IN" sz="21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9094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0AB0E-A5A0-0DF9-3A69-D7C8DAA01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Email 3 (Phishing)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CA4B2-CBDF-8B09-5D84-2C4A8B1B0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466110"/>
          </a:xfrm>
        </p:spPr>
        <p:txBody>
          <a:bodyPr>
            <a:normAutofit fontScale="70000" lnSpcReduction="20000"/>
          </a:bodyPr>
          <a:lstStyle/>
          <a:p>
            <a:r>
              <a:rPr lang="en-IN" sz="2600" b="1" dirty="0"/>
              <a:t>From : </a:t>
            </a:r>
            <a:r>
              <a:rPr lang="en-IN" sz="2600" dirty="0"/>
              <a:t>winner@lottery-prize.com</a:t>
            </a:r>
          </a:p>
          <a:p>
            <a:r>
              <a:rPr lang="en-IN" sz="2600" b="1" dirty="0"/>
              <a:t>Subject : </a:t>
            </a:r>
            <a:r>
              <a:rPr lang="en-IN" sz="2600" dirty="0"/>
              <a:t>Congratulations! You Won ₹5,00,000</a:t>
            </a:r>
          </a:p>
          <a:p>
            <a:r>
              <a:rPr lang="en-IN" sz="2600" b="1" dirty="0"/>
              <a:t>Email</a:t>
            </a:r>
          </a:p>
          <a:p>
            <a:pPr marL="0" indent="0">
              <a:buNone/>
            </a:pPr>
            <a:r>
              <a:rPr lang="en-IN" sz="2600" dirty="0"/>
              <a:t>	Congratulations!</a:t>
            </a:r>
          </a:p>
          <a:p>
            <a:pPr marL="0" indent="0">
              <a:buNone/>
            </a:pPr>
            <a:r>
              <a:rPr lang="en-IN" sz="2600" dirty="0"/>
              <a:t>	You have won ₹5,00,000.</a:t>
            </a:r>
          </a:p>
          <a:p>
            <a:pPr marL="0" indent="0">
              <a:buNone/>
            </a:pPr>
            <a:r>
              <a:rPr lang="en-IN" sz="2600" dirty="0"/>
              <a:t>	Click here immediately to claim your prize.</a:t>
            </a:r>
          </a:p>
          <a:p>
            <a:r>
              <a:rPr lang="en-IN" sz="2600" b="1" dirty="0"/>
              <a:t>Suspicious Signs</a:t>
            </a:r>
          </a:p>
          <a:p>
            <a:pPr marL="0" indent="0">
              <a:buNone/>
            </a:pPr>
            <a:r>
              <a:rPr lang="en-IN" sz="2600" dirty="0"/>
              <a:t>❌ Unknown sender</a:t>
            </a:r>
          </a:p>
          <a:p>
            <a:pPr marL="0" indent="0">
              <a:buNone/>
            </a:pPr>
            <a:r>
              <a:rPr lang="en-IN" sz="2600" dirty="0"/>
              <a:t>❌ Unexpected prize</a:t>
            </a:r>
          </a:p>
          <a:p>
            <a:pPr marL="0" indent="0">
              <a:buNone/>
            </a:pPr>
            <a:r>
              <a:rPr lang="en-IN" sz="2600" dirty="0"/>
              <a:t>❌ Urgent request</a:t>
            </a:r>
          </a:p>
          <a:p>
            <a:pPr marL="0" indent="0">
              <a:buNone/>
            </a:pPr>
            <a:r>
              <a:rPr lang="en-IN" sz="2600" dirty="0"/>
              <a:t>❌ Suspicious link</a:t>
            </a:r>
          </a:p>
          <a:p>
            <a:r>
              <a:rPr lang="en-IN" sz="2600" b="1" dirty="0"/>
              <a:t>Result:</a:t>
            </a:r>
            <a:r>
              <a:rPr lang="en-IN" sz="2600" dirty="0"/>
              <a:t> </a:t>
            </a:r>
            <a:r>
              <a:rPr lang="en-IN" sz="2600" b="1" dirty="0"/>
              <a:t>Phishing Email</a:t>
            </a:r>
            <a:endParaRPr lang="en-IN" sz="2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556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744DA-D2D1-C6F0-7470-BA2CD5687B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6D2C2F-419A-F48D-7E70-145CE2F2D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1" y="3183467"/>
            <a:ext cx="10993549" cy="2895600"/>
          </a:xfrm>
        </p:spPr>
        <p:txBody>
          <a:bodyPr>
            <a:normAutofit fontScale="92500" lnSpcReduction="10000"/>
          </a:bodyPr>
          <a:lstStyle/>
          <a:p>
            <a:r>
              <a:rPr lang="en-IN" sz="2000" b="1" dirty="0"/>
              <a:t>How to Stay Safe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Verify the sender's email address.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Never click suspicious links.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Do not share passwords or OTPs.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Enable Two-Factor Authentication (2FA).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Keep antivirus software updated.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Report phishing emails to your organization.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3579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1683" y="4699819"/>
            <a:ext cx="2986167" cy="106188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4" y="1005839"/>
            <a:ext cx="3295957" cy="5128262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bg2"/>
              </a:solidFill>
            </a:endParaRPr>
          </a:p>
          <a:p>
            <a:r>
              <a:rPr lang="en-IN" b="1" dirty="0">
                <a:solidFill>
                  <a:srgbClr val="92D050"/>
                </a:solidFill>
              </a:rPr>
              <a:t>Conclusion</a:t>
            </a:r>
          </a:p>
          <a:p>
            <a:r>
              <a:rPr lang="en-IN" dirty="0">
                <a:solidFill>
                  <a:srgbClr val="92D050"/>
                </a:solidFill>
              </a:rPr>
              <a:t>Always verify emails before clicking links or downloading attachments. Staying alert can prevent phishing attacks and protect personal information.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23</TotalTime>
  <Words>420</Words>
  <Application>Microsoft Office PowerPoint</Application>
  <PresentationFormat>Widescreen</PresentationFormat>
  <Paragraphs>79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Gill Sans MT</vt:lpstr>
      <vt:lpstr>Wingdings 2</vt:lpstr>
      <vt:lpstr>Custom</vt:lpstr>
      <vt:lpstr> Phishing Email Identifier</vt:lpstr>
      <vt:lpstr>Phishing Email Identifier  Code Orbit Tech – Cyber Security Internship </vt:lpstr>
      <vt:lpstr>What is Phishing?</vt:lpstr>
      <vt:lpstr>Common Phishing Red Flags</vt:lpstr>
      <vt:lpstr>Sample Email 1 (Phishing)</vt:lpstr>
      <vt:lpstr>Sample Email 2 (Safe)</vt:lpstr>
      <vt:lpstr>Sample Email 3 (Phishing)</vt:lpstr>
      <vt:lpstr>Summary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krishnaveni tc</dc:creator>
  <cp:lastModifiedBy>krishnaveni tc</cp:lastModifiedBy>
  <cp:revision>1</cp:revision>
  <dcterms:created xsi:type="dcterms:W3CDTF">2026-07-15T13:36:24Z</dcterms:created>
  <dcterms:modified xsi:type="dcterms:W3CDTF">2026-07-15T13:59:49Z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